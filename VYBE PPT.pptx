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42" r:id="rId1"/>
  </p:sldMasterIdLst>
  <p:notesMasterIdLst>
    <p:notesMasterId r:id="rId28"/>
  </p:notesMasterIdLst>
  <p:handoutMasterIdLst>
    <p:handoutMasterId r:id="rId29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9" r:id="rId9"/>
    <p:sldId id="280" r:id="rId10"/>
    <p:sldId id="281" r:id="rId11"/>
    <p:sldId id="282" r:id="rId12"/>
    <p:sldId id="263" r:id="rId13"/>
    <p:sldId id="266" r:id="rId14"/>
    <p:sldId id="267" r:id="rId15"/>
    <p:sldId id="264" r:id="rId16"/>
    <p:sldId id="274" r:id="rId17"/>
    <p:sldId id="275" r:id="rId18"/>
    <p:sldId id="276" r:id="rId19"/>
    <p:sldId id="277" r:id="rId20"/>
    <p:sldId id="265" r:id="rId21"/>
    <p:sldId id="269" r:id="rId22"/>
    <p:sldId id="270" r:id="rId23"/>
    <p:sldId id="271" r:id="rId24"/>
    <p:sldId id="272" r:id="rId25"/>
    <p:sldId id="273" r:id="rId26"/>
    <p:sldId id="278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87" d="100"/>
          <a:sy n="87" d="100"/>
        </p:scale>
        <p:origin x="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DED2069-9CB8-07B3-96F1-79404FE71CE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dirty="0"/>
              <a:t>Voices of Youth for Better Engagement, Africa 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F50A78D-97F8-BFDB-3E99-10A99B3CD54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D4CB5C9-6417-4835-8CC2-700B10C96449}" type="datetimeFigureOut">
              <a:rPr lang="en-US" smtClean="0"/>
              <a:t>7/9/2025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B4E73D-9046-1629-151D-20AD3DF29EE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/>
              <a:t>Dream.Dare.Do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7A55C9-F5D5-8ECC-21AC-D608590472FD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C93887-BCDB-4E06-A4DC-F38AC78935C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2537297"/>
      </p:ext>
    </p:extLst>
  </p:cSld>
  <p:clrMap bg1="lt1" tx1="dk1" bg2="lt2" tx2="dk2" accent1="accent1" accent2="accent2" accent3="accent3" accent4="accent4" accent5="accent5" accent6="accent6" hlink="hlink" folHlink="folHlink"/>
  <p:hf sldNum="0" dt="0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8T10:08:54.540"/>
    </inkml:context>
    <inkml:brush xml:id="br0">
      <inkml:brushProperty name="width" value="0.05" units="cm"/>
      <inkml:brushProperty name="height" value="0.05" units="cm"/>
      <inkml:brushProperty name="color" value="#AE198D"/>
      <inkml:brushProperty name="inkEffects" value="galaxy"/>
      <inkml:brushProperty name="anchorX" value="-5143.64209"/>
      <inkml:brushProperty name="anchorY" value="-9503.78223"/>
      <inkml:brushProperty name="scaleFactor" value="0.5"/>
    </inkml:brush>
  </inkml:definitions>
  <inkml:trace contextRef="#ctx0" brushRef="#br0">0 1 24575,'0'0'0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 dirty="0"/>
              <a:t>Voices of Youth for Better Engagement, Africa 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0DCB9D5-1F29-4565-9A29-DEF3536DCEE0}" type="datetimeFigureOut">
              <a:rPr lang="en-US" smtClean="0"/>
              <a:t>7/9/2025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dirty="0"/>
              <a:t>Dream.Dare.Do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9D5BF0-9590-4BEC-8C58-8C7580BB079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27501586"/>
      </p:ext>
    </p:extLst>
  </p:cSld>
  <p:clrMap bg1="lt1" tx1="dk1" bg2="lt2" tx2="dk2" accent1="accent1" accent2="accent2" accent3="accent3" accent4="accent4" accent5="accent5" accent6="accent6" hlink="hlink" folHlink="folHlink"/>
  <p:hf sldNum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VYBE, Africa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Dream.Dare.Do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9AA6A-9152-494E-9690-648D6837546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43438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VYBE, Africa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Dream.Dare.Do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9AA6A-9152-494E-9690-648D6837546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500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VYBE, Africa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Dream.Dare.Do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9AA6A-9152-494E-9690-648D6837546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69032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VYBE, Africa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Dream.Dare.Do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9AA6A-9152-494E-9690-648D6837546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985016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VYBE, Africa 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Dream.Dare.Do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9AA6A-9152-494E-9690-648D6837546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93231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VYBE, Africa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Dream.Dare.Do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9AA6A-9152-494E-9690-648D6837546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68384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VYBE, Africa 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Dream.Dare.Do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9AA6A-9152-494E-9690-648D6837546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14350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VYBE, Africa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Dream.Dare.Do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9AA6A-9152-494E-9690-648D6837546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4089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VYBE, Africa 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Dream.Dare.Do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9AA6A-9152-494E-9690-648D6837546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94395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VYBE, Africa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Dream.Dare.Do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9AA6A-9152-494E-9690-648D6837546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88935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VYBE, Africa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Dream.Dare.Do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9AA6A-9152-494E-9690-648D68375460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2153265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VYBE, Africa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Dream.Dare.Do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9AA6A-9152-494E-9690-648D6837546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070475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VYBE, Africa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Dream.Dare.Do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9AA6A-9152-494E-9690-648D68375460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280305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VYBE, Africa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Dream.Dare.Do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9AA6A-9152-494E-9690-648D6837546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6637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VYBE, Africa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Dream.Dare.Do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9AA6A-9152-494E-9690-648D6837546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2725679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VYBE, Africa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Dream.Dare.Do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B19AA6A-9152-494E-9690-648D6837546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20154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VYBE, Africa 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Dream.Dare.Do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8B19AA6A-9152-494E-9690-648D6837546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44046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3" r:id="rId1"/>
    <p:sldLayoutId id="2147483744" r:id="rId2"/>
    <p:sldLayoutId id="2147483745" r:id="rId3"/>
    <p:sldLayoutId id="2147483746" r:id="rId4"/>
    <p:sldLayoutId id="2147483747" r:id="rId5"/>
    <p:sldLayoutId id="2147483748" r:id="rId6"/>
    <p:sldLayoutId id="2147483749" r:id="rId7"/>
    <p:sldLayoutId id="2147483750" r:id="rId8"/>
    <p:sldLayoutId id="2147483751" r:id="rId9"/>
    <p:sldLayoutId id="2147483752" r:id="rId10"/>
    <p:sldLayoutId id="2147483753" r:id="rId11"/>
    <p:sldLayoutId id="2147483754" r:id="rId12"/>
    <p:sldLayoutId id="2147483755" r:id="rId13"/>
    <p:sldLayoutId id="2147483756" r:id="rId14"/>
    <p:sldLayoutId id="2147483757" r:id="rId15"/>
    <p:sldLayoutId id="2147483758" r:id="rId16"/>
  </p:sldLayoutIdLst>
  <p:hf sldNum="0" hd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>
            <a:extLst>
              <a:ext uri="{FF2B5EF4-FFF2-40B4-BE49-F238E27FC236}">
                <a16:creationId xmlns:a16="http://schemas.microsoft.com/office/drawing/2014/main" id="{41F62F86-B875-9433-6471-7D2426AFC5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86"/>
            <a:ext cx="12191999" cy="6973289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 xmlns:aink="http://schemas.microsoft.com/office/drawing/2016/ink">
        <mc:Choice Requires="p14 aink">
          <p:contentPart p14:bwMode="auto" r:id="rId3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F493FF4A-E0A9-080E-E675-E8D6EDB5473F}"/>
                  </a:ext>
                </a:extLst>
              </p14:cNvPr>
              <p14:cNvContentPartPr/>
              <p14:nvPr/>
            </p14:nvContentPartPr>
            <p14:xfrm>
              <a:off x="2985141" y="1868696"/>
              <a:ext cx="360" cy="36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F493FF4A-E0A9-080E-E675-E8D6EDB5473F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76141" y="1860056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12" name="Picture 11">
            <a:extLst>
              <a:ext uri="{FF2B5EF4-FFF2-40B4-BE49-F238E27FC236}">
                <a16:creationId xmlns:a16="http://schemas.microsoft.com/office/drawing/2014/main" id="{77A15AB2-D095-3DAA-524F-08C28B75510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63722" y="-1083213"/>
            <a:ext cx="9312961" cy="92397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4754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0523C5-8CDB-DB59-5C29-80D45F9D88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solidFill>
                  <a:schemeClr val="accent2">
                    <a:lumMod val="75000"/>
                  </a:schemeClr>
                </a:solidFill>
              </a:rPr>
              <a:t>Voices of Youth for Better Engagement, Africa </a:t>
            </a:r>
            <a:br>
              <a:rPr lang="en-US" dirty="0"/>
            </a:br>
            <a:r>
              <a:rPr lang="en-US" b="1" dirty="0">
                <a:solidFill>
                  <a:schemeClr val="tx1"/>
                </a:solidFill>
              </a:rPr>
              <a:t>Dream.Dare.Do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10684E-FA84-34C1-F1EB-17B5258B5B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800" dirty="0"/>
              <a:t>Welcome to VYBE, Africa we are:</a:t>
            </a:r>
          </a:p>
          <a:p>
            <a:r>
              <a:rPr lang="en-US" sz="2800" dirty="0"/>
              <a:t>A youth-led CBO in West Pokot County</a:t>
            </a:r>
          </a:p>
          <a:p>
            <a:r>
              <a:rPr lang="en-US" sz="2800" dirty="0"/>
              <a:t>Focusing on;</a:t>
            </a:r>
          </a:p>
          <a:p>
            <a:r>
              <a:rPr lang="en-US" sz="2800" dirty="0"/>
              <a:t>1. SRHR and maternal health</a:t>
            </a:r>
          </a:p>
          <a:p>
            <a:r>
              <a:rPr lang="en-US" sz="2800" dirty="0"/>
              <a:t>2. Climate change</a:t>
            </a:r>
          </a:p>
          <a:p>
            <a:r>
              <a:rPr lang="en-US" sz="2800" dirty="0"/>
              <a:t>3. Child Protection</a:t>
            </a:r>
          </a:p>
          <a:p>
            <a:r>
              <a:rPr lang="en-US" sz="2800" dirty="0"/>
              <a:t>4. Good Governance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CA32A-5E76-87BF-8990-E27B7020CD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VYBE, Africa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01D8ED-8CA9-EF57-6784-27911A72CD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Dream.Dare.Do</a:t>
            </a:r>
          </a:p>
        </p:txBody>
      </p:sp>
    </p:spTree>
    <p:extLst>
      <p:ext uri="{BB962C8B-B14F-4D97-AF65-F5344CB8AC3E}">
        <p14:creationId xmlns:p14="http://schemas.microsoft.com/office/powerpoint/2010/main" val="39846817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251C0A-D898-0261-3075-B3850935E5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Mission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F6DBA2-DB9B-C8BF-2625-10D23A9BE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A society where empowered youths inspire sustainable development, justice and well-being for all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69BDC1-9F20-A817-C200-FDEBE6453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VYBE, Africa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EAD547-7CD2-2480-43FE-F3015C1B3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Dream.Dare.Do</a:t>
            </a:r>
          </a:p>
        </p:txBody>
      </p:sp>
    </p:spTree>
    <p:extLst>
      <p:ext uri="{BB962C8B-B14F-4D97-AF65-F5344CB8AC3E}">
        <p14:creationId xmlns:p14="http://schemas.microsoft.com/office/powerpoint/2010/main" val="33193971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5EFA0-4B95-9B4F-AE6A-0A0010BDA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Vision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57E432-2DC4-DCF2-36F4-3BEF300105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4000" dirty="0"/>
              <a:t>To empower youths through capacity building, advocacy and community engagement, driving innovative solutions and policy influence across climate action, SRHR, Child protection and inclusive governance</a:t>
            </a:r>
            <a:r>
              <a:rPr lang="en-US" dirty="0"/>
              <a:t>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C7DA9F-8E28-6D2E-F727-41DBA50F6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VYBE, Africa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A46F8C-46BF-1FDD-6306-48FE47633F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Dream.Dare.Do</a:t>
            </a:r>
          </a:p>
        </p:txBody>
      </p:sp>
    </p:spTree>
    <p:extLst>
      <p:ext uri="{BB962C8B-B14F-4D97-AF65-F5344CB8AC3E}">
        <p14:creationId xmlns:p14="http://schemas.microsoft.com/office/powerpoint/2010/main" val="8780677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33DEBF-A452-CA29-3CC2-D19BD4C0CD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E0A68E-C3C3-B809-D6B2-F856D2A7D4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4000" dirty="0"/>
              <a:t>To empower youths to lead and shape a world where their voices are central to decision-making and positive change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26FF0-2344-95FE-055C-5F0F5C7788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VYBE, Africa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21CC51-B443-DB77-91FE-674D16BE71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Dream.Dare.Do</a:t>
            </a:r>
          </a:p>
        </p:txBody>
      </p:sp>
    </p:spTree>
    <p:extLst>
      <p:ext uri="{BB962C8B-B14F-4D97-AF65-F5344CB8AC3E}">
        <p14:creationId xmlns:p14="http://schemas.microsoft.com/office/powerpoint/2010/main" val="31623820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576E8-B552-B1D3-8A18-0A709D23DA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Values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34BAC4-F21C-D24F-5893-22A08F80ED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Integrity</a:t>
            </a:r>
          </a:p>
          <a:p>
            <a:r>
              <a:rPr lang="en-US" sz="3200" dirty="0"/>
              <a:t>Inclusivity</a:t>
            </a:r>
          </a:p>
          <a:p>
            <a:r>
              <a:rPr lang="en-US" sz="3200" dirty="0"/>
              <a:t>Accountability</a:t>
            </a:r>
          </a:p>
          <a:p>
            <a:r>
              <a:rPr lang="en-US" sz="3200" dirty="0"/>
              <a:t>Innovation</a:t>
            </a:r>
          </a:p>
          <a:p>
            <a:r>
              <a:rPr lang="en-US" sz="3200" dirty="0"/>
              <a:t>Respect for human rights</a:t>
            </a:r>
          </a:p>
          <a:p>
            <a:r>
              <a:rPr lang="en-US" sz="3200" dirty="0"/>
              <a:t>Environmental stewardship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EF77545-525C-A384-9260-2994F0B03A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VYBE, Africa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3AFEEE-333E-93AB-9A0C-5368E58FDD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Dream.Dare.Do</a:t>
            </a:r>
          </a:p>
        </p:txBody>
      </p:sp>
    </p:spTree>
    <p:extLst>
      <p:ext uri="{BB962C8B-B14F-4D97-AF65-F5344CB8AC3E}">
        <p14:creationId xmlns:p14="http://schemas.microsoft.com/office/powerpoint/2010/main" val="3232047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697CE4-DA0F-F24F-9539-EB2E87E37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SRHR and Maternal Health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475AE3-01A0-8951-0382-37FB193D54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/>
              <a:t>Maternal health is a critical component of overall public health and a cornerstone of human development. It refers to the health of women during pregnancy, childbirth, and the postpartum period.</a:t>
            </a:r>
          </a:p>
          <a:p>
            <a:r>
              <a:rPr lang="en-US" sz="2800" dirty="0"/>
              <a:t>SRHR encompasses a broad range of services, information, and rights that enable individuals to have control over their own bodies, sexuality, and reproduction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5CF893-3318-A58D-72C1-B6531176B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VYBE, Africa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1B03AA-5969-9949-5773-C35BDB80E7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Dream.Dare.Do</a:t>
            </a:r>
          </a:p>
        </p:txBody>
      </p:sp>
    </p:spTree>
    <p:extLst>
      <p:ext uri="{BB962C8B-B14F-4D97-AF65-F5344CB8AC3E}">
        <p14:creationId xmlns:p14="http://schemas.microsoft.com/office/powerpoint/2010/main" val="30766216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25C2B3-3115-B287-B455-3ECF51F8D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Barriers to Access to quality SRHR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DF620F-396A-BD47-7658-90B46CBDF2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High rates of teenage pregnancy, early marriage, and FGM.</a:t>
            </a:r>
          </a:p>
          <a:p>
            <a:r>
              <a:rPr lang="en-US" sz="2400" dirty="0"/>
              <a:t>Limited youth-friendly services and trained health personnel.</a:t>
            </a:r>
          </a:p>
          <a:p>
            <a:r>
              <a:rPr lang="en-US" sz="2400" dirty="0"/>
              <a:t>Cultural taboos and stigma around sexuality and reproductive health. </a:t>
            </a:r>
          </a:p>
          <a:p>
            <a:r>
              <a:rPr lang="en-US" sz="2400" dirty="0"/>
              <a:t>Inadequate infrastructure and long distances to health facilities.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092330-A282-755E-1F69-EA1118E90B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VYBE, Africa 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585239-60EA-AD37-D960-2F53DDE474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Dream.Dare.Do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9784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71EB6-2711-9F81-2332-66104EF30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VYBE has focused on SRHR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67EF35-26B6-47CF-7412-63F3502B97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Youth are disproportionately affected by poor SRHR outcomes.</a:t>
            </a:r>
          </a:p>
          <a:p>
            <a:r>
              <a:rPr lang="en-US" sz="2400" dirty="0"/>
              <a:t>Inclusive governance must include health rights and bodily autonomy. </a:t>
            </a:r>
          </a:p>
          <a:p>
            <a:r>
              <a:rPr lang="en-US" sz="2400" dirty="0"/>
              <a:t>Empowering young people with knowledge and services leads to healthier, more resilient communities.</a:t>
            </a:r>
          </a:p>
          <a:p>
            <a:r>
              <a:rPr lang="en-US" sz="2400" dirty="0"/>
              <a:t>SRHR is a gateway to gender equality and social justice.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79A841-7066-2788-59B3-073B0631B2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VYBE, Africa 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9388D9-FB86-935F-60CB-642FB07D7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Dream.Dare.Do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818682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2EE5E7-9BB7-B5F8-D967-7E8B307393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 Do as VYBE Africa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6D804B-D504-3A37-D0A5-E7204483D38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Train adolescent champions to lead peer education and advocacy.</a:t>
            </a:r>
          </a:p>
          <a:p>
            <a:r>
              <a:rPr lang="en-US" sz="2400" dirty="0"/>
              <a:t>Facilitate community dialogues to challenge harmful norms and promote rights.</a:t>
            </a:r>
          </a:p>
          <a:p>
            <a:r>
              <a:rPr lang="en-US" sz="2400" dirty="0"/>
              <a:t>Partner with health facilities to improve youth-friendly service delivery.</a:t>
            </a:r>
          </a:p>
          <a:p>
            <a:r>
              <a:rPr lang="en-US" sz="2400" dirty="0"/>
              <a:t>Use community scorecards and social accountability tools to monitor services.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051AF6-7E95-A3D4-73BF-419FB5CC7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VYBE, Africa 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CA2AD1-C5C0-7EAF-D001-051CFD9A0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Dream.Dare.Do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1124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0CFA7-C73F-3D21-4629-FA1DD2329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Partner With VYBE for Better SRHR Outcomes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B0311-C19E-FA2D-3A43-974A382E7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Support youth-led SRHR initiatives through funding and collaboration. </a:t>
            </a:r>
          </a:p>
          <a:p>
            <a:r>
              <a:rPr lang="en-US" sz="2400" dirty="0"/>
              <a:t>Advocate for inclusive, rights-based health policies at the county level.</a:t>
            </a:r>
          </a:p>
          <a:p>
            <a:r>
              <a:rPr lang="en-US" sz="2400" dirty="0"/>
              <a:t>Help us amplify the voices of young people in shaping their health futures. </a:t>
            </a:r>
          </a:p>
          <a:p>
            <a:r>
              <a:rPr lang="en-US" sz="2400" dirty="0"/>
              <a:t>Together, we can ensure that every young person in West Pokot has the right to health, dignity, and choice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694BC8-C5DB-591A-C13D-BAFC27E1E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VYBE, Africa 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8A4E7B-7F22-8A5C-A37D-17358A3DA2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Dream.Dare.Do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35700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DF987-D6DC-941C-4352-A389D58DF2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Climate 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8D849-D6C9-59E2-A91E-2BAA5BB10B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Climate change is one of the most pressing challenges of our time, with far-reaching environmental, social and economic consequences. </a:t>
            </a:r>
          </a:p>
          <a:p>
            <a:r>
              <a:rPr lang="en-US" dirty="0"/>
              <a:t>Climate action refers to comprehensive efforts undertaken to combat climate change and its impacts. </a:t>
            </a:r>
          </a:p>
          <a:p>
            <a:r>
              <a:rPr lang="en-US" dirty="0"/>
              <a:t>Climate action is any measure, policy or program designed to reduce greenhouse gas emissions, build resilience to climate change impacts or support and finance these goals. It is a multi-faceted approach involving governments, businesses, communities and individuals working together to create a sustainable future. 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B213FE-6DEA-E388-86E0-8BE3F5A2EB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VYBE, Africa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A84753-F707-1179-3352-E995657402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Dream.Dare.Do</a:t>
            </a:r>
          </a:p>
        </p:txBody>
      </p:sp>
    </p:spTree>
    <p:extLst>
      <p:ext uri="{BB962C8B-B14F-4D97-AF65-F5344CB8AC3E}">
        <p14:creationId xmlns:p14="http://schemas.microsoft.com/office/powerpoint/2010/main" val="41275397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4DC43-2232-1EE8-F4A6-4ABFB0C2F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components of climate 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22BDAD-C0F9-21B6-3605-8A7F27F0D2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266093"/>
            <a:ext cx="8596668" cy="4775270"/>
          </a:xfrm>
        </p:spPr>
        <p:txBody>
          <a:bodyPr/>
          <a:lstStyle/>
          <a:p>
            <a:pPr>
              <a:buAutoNum type="arabicPeriod"/>
            </a:pPr>
            <a:r>
              <a:rPr lang="en-US" b="1" i="1" dirty="0"/>
              <a:t>Climate mitigation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Focuses on reducing the sources of greenhouse gas emissions e.g., deforestation and industrial processes.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Aims to stabilize greenhouse gas concentration in the atmosphere at a level that would prevent dangerous anthropogenic interference with the climate system, examples include, transitioning to renewable energy, improving energy efficiency and promoting sustainable land use.</a:t>
            </a:r>
          </a:p>
          <a:p>
            <a:pPr marL="0" indent="0">
              <a:buNone/>
            </a:pPr>
            <a:r>
              <a:rPr lang="en-US" dirty="0"/>
              <a:t>2. </a:t>
            </a:r>
            <a:r>
              <a:rPr lang="en-US" b="1" i="1" dirty="0"/>
              <a:t>Climate adaptation 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Involves adjusting to the actual or expected impacts of climate change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Aims to reduce vulnerability and enhance resilience to the adverse effect of climate change.</a:t>
            </a:r>
          </a:p>
          <a:p>
            <a:pPr>
              <a:buFont typeface="Courier New" panose="02070309020205020404" pitchFamily="49" charset="0"/>
              <a:buChar char="o"/>
            </a:pPr>
            <a:r>
              <a:rPr lang="en-US" dirty="0"/>
              <a:t>Examples include, developing drought-resistant crops, building flood defenses and implementing early warning systems for extreme weather.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1F544A8-DEC8-FC04-779F-FEDA256C6F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VYBE, Africa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31093B-443F-891B-3F22-3DE1B22368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Dream.Dare.Do</a:t>
            </a:r>
          </a:p>
        </p:txBody>
      </p:sp>
    </p:spTree>
    <p:extLst>
      <p:ext uri="{BB962C8B-B14F-4D97-AF65-F5344CB8AC3E}">
        <p14:creationId xmlns:p14="http://schemas.microsoft.com/office/powerpoint/2010/main" val="13638292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25272E-A108-6872-E4F9-D426F0CD73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Key activities on climate action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EB1ACD-19DE-4146-0713-4FAADACFDD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1505243"/>
            <a:ext cx="8596668" cy="453611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200" dirty="0"/>
              <a:t>1. Policy and governance</a:t>
            </a:r>
          </a:p>
          <a:p>
            <a:pPr marL="0" indent="0">
              <a:buNone/>
            </a:pPr>
            <a:r>
              <a:rPr lang="en-US" sz="3200" dirty="0"/>
              <a:t>2. Sustainable land use and forestry</a:t>
            </a:r>
          </a:p>
          <a:p>
            <a:pPr marL="0" indent="0">
              <a:buNone/>
            </a:pPr>
            <a:r>
              <a:rPr lang="en-US" sz="3200" dirty="0"/>
              <a:t>3. Circular economy and waste management</a:t>
            </a:r>
          </a:p>
          <a:p>
            <a:pPr marL="0" indent="0">
              <a:buNone/>
            </a:pPr>
            <a:r>
              <a:rPr lang="en-US" sz="3200" dirty="0"/>
              <a:t>4. Climate finance and innovation</a:t>
            </a:r>
          </a:p>
          <a:p>
            <a:pPr marL="0" indent="0">
              <a:buNone/>
            </a:pPr>
            <a:r>
              <a:rPr lang="en-US" sz="3200" dirty="0"/>
              <a:t>5. Public awareness and education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6E0D4A-7194-0736-16E0-F29418BBD1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VYBE, Africa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D7F06C-EA47-C205-4734-EA643BDBA1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Dream.Dare.Do</a:t>
            </a:r>
          </a:p>
        </p:txBody>
      </p:sp>
    </p:spTree>
    <p:extLst>
      <p:ext uri="{BB962C8B-B14F-4D97-AF65-F5344CB8AC3E}">
        <p14:creationId xmlns:p14="http://schemas.microsoft.com/office/powerpoint/2010/main" val="30373407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5C633D-3EE3-63B0-CEC1-DACB19FD1F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Inclusive governance</a:t>
            </a:r>
            <a:br>
              <a:rPr lang="en-US" dirty="0"/>
            </a:br>
            <a:r>
              <a:rPr lang="en-US" dirty="0"/>
              <a:t>    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BBA9B3-D723-BFC3-F030-EF3F287DD9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Inclusive governance refers to a system of decision-making where all stakeholders—regardless of their background, identity, or socioeconomic status—have a voice in shaping policies, laws, and institutional practices.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4E822B-D7C9-4186-BDED-E6C1AAE47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VYBE, Africa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049A47-89BA-F945-C26C-65C6C8D7A9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Dream.Dare.Do</a:t>
            </a:r>
          </a:p>
        </p:txBody>
      </p:sp>
    </p:spTree>
    <p:extLst>
      <p:ext uri="{BB962C8B-B14F-4D97-AF65-F5344CB8AC3E}">
        <p14:creationId xmlns:p14="http://schemas.microsoft.com/office/powerpoint/2010/main" val="30013572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8DFB14-2672-DF15-2A20-CEFC372C4F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principles of inclusive governance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B69CFD-89B5-9C66-D7C1-66897DD9D2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/>
              <a:t>Transparency</a:t>
            </a:r>
          </a:p>
          <a:p>
            <a:r>
              <a:rPr lang="en-US" sz="2800" dirty="0"/>
              <a:t>Accountability</a:t>
            </a:r>
          </a:p>
          <a:p>
            <a:r>
              <a:rPr lang="en-US" sz="2800" dirty="0"/>
              <a:t>Participation</a:t>
            </a:r>
          </a:p>
          <a:p>
            <a:r>
              <a:rPr lang="en-US" sz="2800" dirty="0"/>
              <a:t>Rule of law</a:t>
            </a:r>
          </a:p>
          <a:p>
            <a:r>
              <a:rPr lang="en-US" sz="2800" dirty="0"/>
              <a:t>Responsiveness</a:t>
            </a:r>
          </a:p>
          <a:p>
            <a:r>
              <a:rPr lang="en-US" sz="2800" dirty="0"/>
              <a:t>Equity and inclusiveness</a:t>
            </a:r>
          </a:p>
          <a:p>
            <a:r>
              <a:rPr lang="en-US" sz="2800" dirty="0"/>
              <a:t>Effective and efficiency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3CEEA9-C434-19AF-6EB8-2E989C8DB3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VYBE, Africa 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AA31D7A-CF09-E116-AFB4-B5EEA16F87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Dream.Dare.Do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423184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438A5F-2B92-CC19-D0DA-87F2D048BD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VYBE Africa focuses on inclusive governance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2A0F3-33B9-02D5-3CC1-81B009979F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sz="2400" dirty="0"/>
              <a:t>Inclusive governance ensures that all voices—especially youth, women, and marginalized groups—are heard in decision-making.</a:t>
            </a:r>
          </a:p>
          <a:p>
            <a:r>
              <a:rPr lang="en-US" sz="2400" dirty="0"/>
              <a:t>It strengthens democracy, transparency, and accountability.</a:t>
            </a:r>
          </a:p>
          <a:p>
            <a:r>
              <a:rPr lang="en-US" sz="2400" dirty="0"/>
              <a:t>In West Pokot, exclusion has led to poor service delivery, inequality, and mistrust in institutions.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B7A1C8-C62A-51A4-EBF4-BA6E851952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VYBE, Africa 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CDA371-25A9-2B6B-9CB1-30A42F09F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Dream.Dare.Do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15853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DD7FBE-3004-E07E-5C58-4A4C0C5C89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Barriers to Participation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189BE-8BF1-4059-4EFA-EBECE8ED6B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Limited youth involvement in county planning and budgeting processes.</a:t>
            </a:r>
          </a:p>
          <a:p>
            <a:r>
              <a:rPr lang="en-US" sz="2400" dirty="0"/>
              <a:t>Cultural norms that sideline women and young people from leadership.</a:t>
            </a:r>
          </a:p>
          <a:p>
            <a:r>
              <a:rPr lang="en-US" sz="2400" dirty="0"/>
              <a:t>Weak civic education and low awareness of rights and responsibilities. </a:t>
            </a:r>
          </a:p>
          <a:p>
            <a:r>
              <a:rPr lang="en-US" sz="2400" dirty="0"/>
              <a:t>Inadequate platforms for citizen feedback and accountability.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313210-842E-066A-BB46-C16433BD3C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VYBE, Africa 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2953DD-F75E-85D3-7D14-45BE2C1FE3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Dream.Dare.Do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08628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F53F5F-D58F-C2D1-9805-4F5DBDADA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VYBE Africa Promotes Inclusive Governance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3D70C1-B017-674B-0BDF-FBD892B396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Civic education and awareness campaigns targeting youth and grassroots communities.</a:t>
            </a:r>
          </a:p>
          <a:p>
            <a:r>
              <a:rPr lang="en-US" sz="2400" dirty="0"/>
              <a:t>Training youth leaders on public participation, policy advocacy, and social accountability.</a:t>
            </a:r>
          </a:p>
          <a:p>
            <a:r>
              <a:rPr lang="en-US" sz="2400" dirty="0"/>
              <a:t>Facilitating community dialogues and town halls with local leaders.</a:t>
            </a:r>
          </a:p>
          <a:p>
            <a:r>
              <a:rPr lang="en-US" sz="2400" dirty="0"/>
              <a:t> Promoting the use of tools like community scorecards and public expenditure tracking.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66BC44-97DA-C941-CB3E-2BDE16EAC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VYBE, Africa 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C43BCD-561F-CF38-D390-25B5801A2A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Dream.Dare.Do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07255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D4625B-5F5C-EC37-9EFF-32922C96D8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Child Protection</a:t>
            </a:r>
            <a:br>
              <a:rPr lang="en-US" dirty="0"/>
            </a:br>
            <a:r>
              <a:rPr lang="en-US" u="sng" dirty="0"/>
              <a:t>Definition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1404B0-B4E1-54F8-071A-0708036F34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Child Protection is about preventing and responding to violence, exploitation, abuse, and neglect against children. It ensures children grow up in a safe, nurturing, and protective environment where their rights are respected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9CFC3F-88A0-F86E-AD43-411F0DC64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VYBE, Africa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2A4305-F838-4E20-D687-CB4D4DD219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Dream.Dare.Do</a:t>
            </a:r>
          </a:p>
        </p:txBody>
      </p:sp>
    </p:spTree>
    <p:extLst>
      <p:ext uri="{BB962C8B-B14F-4D97-AF65-F5344CB8AC3E}">
        <p14:creationId xmlns:p14="http://schemas.microsoft.com/office/powerpoint/2010/main" val="32523184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E63EDD-87B5-38B6-93DA-C315EBB76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Types of abuses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D88F63-C62A-674D-BC01-69BA2C9D3E7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z="2800" dirty="0"/>
              <a:t>Sexual Abuse and Exploitation</a:t>
            </a:r>
          </a:p>
          <a:p>
            <a:pPr lvl="0"/>
            <a:r>
              <a:rPr lang="en-US" sz="2800" dirty="0"/>
              <a:t> Emotional/Psychological Abuse</a:t>
            </a:r>
          </a:p>
          <a:p>
            <a:pPr lvl="0"/>
            <a:r>
              <a:rPr lang="en-US" sz="2800" dirty="0"/>
              <a:t>Neglect (lack of basic needs, education, healthcare)</a:t>
            </a:r>
          </a:p>
          <a:p>
            <a:pPr lvl="0"/>
            <a:r>
              <a:rPr lang="en-US" sz="2800" dirty="0"/>
              <a:t>Child Labor &amp; Trafficking</a:t>
            </a:r>
          </a:p>
          <a:p>
            <a:pPr lvl="0"/>
            <a:r>
              <a:rPr lang="en-US" sz="2800" dirty="0"/>
              <a:t>Harmful Cultural Practices 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BB4155-E7D0-C0AA-26AE-6AC895FFD4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VYBE, Africa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4DB3C8-A7A6-DE1C-5B6E-28F2E780F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Dream.Dare.Do</a:t>
            </a:r>
          </a:p>
        </p:txBody>
      </p:sp>
    </p:spTree>
    <p:extLst>
      <p:ext uri="{BB962C8B-B14F-4D97-AF65-F5344CB8AC3E}">
        <p14:creationId xmlns:p14="http://schemas.microsoft.com/office/powerpoint/2010/main" val="74049586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C7727-8819-71AF-689C-35E5273DE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child protection matters to VYBE Africa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7507C-B9A3-AEBD-6350-9F02FC5EED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800" dirty="0"/>
              <a:t>Child protection issues are deeply linked with SRHR (child pregnancies &amp; child marriage)</a:t>
            </a:r>
          </a:p>
          <a:p>
            <a:r>
              <a:rPr lang="en-US" sz="2800" dirty="0"/>
              <a:t>Unique challenges that heighten the vulnerability of children in West Pokot:</a:t>
            </a:r>
          </a:p>
          <a:p>
            <a:pPr lvl="0"/>
            <a:r>
              <a:rPr lang="en-US" sz="2800" dirty="0"/>
              <a:t>1. Poverty and Food Insecurity</a:t>
            </a:r>
          </a:p>
          <a:p>
            <a:pPr lvl="0"/>
            <a:r>
              <a:rPr lang="en-US" sz="2800" dirty="0"/>
              <a:t>2. Harmful Cultural Practices</a:t>
            </a:r>
          </a:p>
          <a:p>
            <a:pPr lvl="0"/>
            <a:r>
              <a:rPr lang="en-US" sz="2800" dirty="0"/>
              <a:t>3. Limited Access to Services</a:t>
            </a:r>
          </a:p>
          <a:p>
            <a:r>
              <a:rPr lang="en-US" sz="2800" dirty="0"/>
              <a:t>4. Impact of Climate Change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C423FB-62DB-17DB-1748-66CB648B6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VYBE, Africa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BD563A-7BCC-08B9-ADE6-2AFDC76D07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Dream.Dare.Do</a:t>
            </a:r>
          </a:p>
        </p:txBody>
      </p:sp>
    </p:spTree>
    <p:extLst>
      <p:ext uri="{BB962C8B-B14F-4D97-AF65-F5344CB8AC3E}">
        <p14:creationId xmlns:p14="http://schemas.microsoft.com/office/powerpoint/2010/main" val="22714127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AD6C07-5669-698D-8DEB-B519ED656D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Child protection issues in West Pokot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24073B06-B229-6602-3553-2717DDA3DC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41922" y="1196918"/>
            <a:ext cx="5031251" cy="4942739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5F67B-C639-21EC-8993-BEDC17AF8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VYBE, Africa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938023-4E61-B28F-31A2-315093A225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Dream.Dare.Do</a:t>
            </a:r>
          </a:p>
        </p:txBody>
      </p:sp>
    </p:spTree>
    <p:extLst>
      <p:ext uri="{BB962C8B-B14F-4D97-AF65-F5344CB8AC3E}">
        <p14:creationId xmlns:p14="http://schemas.microsoft.com/office/powerpoint/2010/main" val="38849953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9AEF17-B609-C204-6B84-8F2FBF77D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V="1">
            <a:off x="8891082" y="97277"/>
            <a:ext cx="382920" cy="512323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7E217A-1EE8-3925-8DC7-3BC8B54909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1831" y="97277"/>
            <a:ext cx="8982172" cy="5944085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 Child Marriage &amp; Teenage Pregnancy:</a:t>
            </a:r>
            <a:endParaRPr lang="en-US" dirty="0"/>
          </a:p>
          <a:p>
            <a:r>
              <a:rPr lang="en-US" dirty="0"/>
              <a:t>West Pokot historically has some of the highest rates of child marriage and teenage pregnancy in Kenya.</a:t>
            </a:r>
          </a:p>
          <a:p>
            <a:r>
              <a:rPr lang="en-US" dirty="0"/>
              <a:t>It is ranked 2</a:t>
            </a:r>
            <a:r>
              <a:rPr lang="en-US" baseline="30000" dirty="0"/>
              <a:t>nd</a:t>
            </a:r>
            <a:r>
              <a:rPr lang="en-US" dirty="0"/>
              <a:t> nationally, with </a:t>
            </a:r>
            <a:r>
              <a:rPr lang="en-US" b="1" dirty="0"/>
              <a:t>36%</a:t>
            </a:r>
            <a:r>
              <a:rPr lang="en-US" dirty="0"/>
              <a:t> of girls aged 15-19 pregnant or already mothers as of KDHS 2022(up from </a:t>
            </a:r>
            <a:r>
              <a:rPr lang="en-US" b="1" dirty="0"/>
              <a:t>29%</a:t>
            </a:r>
            <a:r>
              <a:rPr lang="en-US" dirty="0"/>
              <a:t> in 2014), often linked to child marriage.</a:t>
            </a:r>
          </a:p>
          <a:p>
            <a:r>
              <a:rPr lang="en-US" b="1" dirty="0"/>
              <a:t>. Female Genital Mutilation (FGM):</a:t>
            </a:r>
            <a:endParaRPr lang="en-US" dirty="0"/>
          </a:p>
          <a:p>
            <a:r>
              <a:rPr lang="en-US" dirty="0"/>
              <a:t>Despite being outlawed, FGM remains a persistent, harmful cultural practice in parts of West Pokot, disproportionately affecting young girls.</a:t>
            </a:r>
          </a:p>
          <a:p>
            <a:r>
              <a:rPr lang="en-US" b="1" dirty="0"/>
              <a:t>Child Labor &amp; Neglect:</a:t>
            </a:r>
            <a:endParaRPr lang="en-US" dirty="0"/>
          </a:p>
          <a:p>
            <a:r>
              <a:rPr lang="en-US" dirty="0"/>
              <a:t>Poverty and drought conditions contribute to children being withdrawn from school for labor (e.g., herding, mining, small-scale farming, domestic work).</a:t>
            </a:r>
          </a:p>
          <a:p>
            <a:r>
              <a:rPr lang="en-US" b="1" dirty="0"/>
              <a:t>. Inter-communal Conflict &amp; Displacement </a:t>
            </a:r>
            <a:endParaRPr lang="en-US" dirty="0"/>
          </a:p>
          <a:p>
            <a:r>
              <a:rPr lang="en-US" dirty="0"/>
              <a:t>Though improving, historical cattle rustling and conflict in border areas have led to displacement, increasing children's vulnerability to injury, psychological trauma, and disrupted education.</a:t>
            </a:r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C46E11-B21A-2C40-BCBD-697232F279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dirty="0"/>
              <a:t>VYBE, Africa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43E502-8686-1703-3917-324CA68DAA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Dream.Dare.Do</a:t>
            </a:r>
          </a:p>
        </p:txBody>
      </p:sp>
    </p:spTree>
    <p:extLst>
      <p:ext uri="{BB962C8B-B14F-4D97-AF65-F5344CB8AC3E}">
        <p14:creationId xmlns:p14="http://schemas.microsoft.com/office/powerpoint/2010/main" val="19332218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C853CE-6773-68C8-F6C5-19DB27EB9B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Break the Silence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A0FDAA6-043A-2350-8833-87AD98D5B2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If you suspect a child is at risk, report it. Don't assume someone else will. Know who to contact:</a:t>
            </a:r>
          </a:p>
          <a:p>
            <a:pPr lvl="0"/>
            <a:r>
              <a:rPr lang="en-US" dirty="0"/>
              <a:t>Your local Children's Officer</a:t>
            </a:r>
          </a:p>
          <a:p>
            <a:pPr lvl="0"/>
            <a:r>
              <a:rPr lang="en-US" dirty="0"/>
              <a:t>The nearest Police Station (Child Protection Unit)</a:t>
            </a:r>
          </a:p>
          <a:p>
            <a:pPr lvl="0"/>
            <a:r>
              <a:rPr lang="en-US" dirty="0"/>
              <a:t>Trusted Community Leaders/Elders </a:t>
            </a:r>
          </a:p>
          <a:p>
            <a:pPr marL="0" lvl="0" indent="0">
              <a:buNone/>
            </a:pPr>
            <a:r>
              <a:rPr lang="en-US" dirty="0"/>
              <a:t> </a:t>
            </a:r>
          </a:p>
          <a:p>
            <a:r>
              <a:rPr lang="en-US" b="1" dirty="0"/>
              <a:t> "When we protect our children today, we are investing in a healthier, safer, stronger, and more engaged West Pokot for tomorrow."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97C82-A20F-1639-34E1-5AB026760F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VYBE, Africa 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436E84-D1C4-8275-75A2-AEC179634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Dream.Dare.Do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71820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0EE13-C062-16F3-6EFD-3258ED600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you!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6EA547A-B38C-F227-55E9-5DFB1F71D6D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9822" y="1251543"/>
            <a:ext cx="6297612" cy="4790482"/>
          </a:xfr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8D2F8E-276C-E1A0-1AB0-464037C0B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VYBE, Africa 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EF2E6E-E3DF-4186-CCFC-47382FA8C8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Dream.Dare.Do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33598745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393</TotalTime>
  <Words>1422</Words>
  <Application>Microsoft Office PowerPoint</Application>
  <PresentationFormat>Widescreen</PresentationFormat>
  <Paragraphs>170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32" baseType="lpstr">
      <vt:lpstr>Arial</vt:lpstr>
      <vt:lpstr>Calibri</vt:lpstr>
      <vt:lpstr>Courier New</vt:lpstr>
      <vt:lpstr>Trebuchet MS</vt:lpstr>
      <vt:lpstr>Wingdings 3</vt:lpstr>
      <vt:lpstr>Facet</vt:lpstr>
      <vt:lpstr>PowerPoint Presentation</vt:lpstr>
      <vt:lpstr>Voices of Youth for Better Engagement, Africa  Dream.Dare.Do</vt:lpstr>
      <vt:lpstr>Mission</vt:lpstr>
      <vt:lpstr>Vision</vt:lpstr>
      <vt:lpstr>Goal</vt:lpstr>
      <vt:lpstr>Core Values</vt:lpstr>
      <vt:lpstr>SRHR and Maternal Health</vt:lpstr>
      <vt:lpstr>Barriers to Access to quality SRHR</vt:lpstr>
      <vt:lpstr>Why VYBE has focused on SRHR</vt:lpstr>
      <vt:lpstr>What We Do as VYBE Africa</vt:lpstr>
      <vt:lpstr>Partner With VYBE for Better SRHR Outcomes</vt:lpstr>
      <vt:lpstr>Climate Action</vt:lpstr>
      <vt:lpstr>Core components of climate action</vt:lpstr>
      <vt:lpstr>Key activities on climate action</vt:lpstr>
      <vt:lpstr>Inclusive governance     Definition</vt:lpstr>
      <vt:lpstr>Core principles of inclusive governance</vt:lpstr>
      <vt:lpstr>Why VYBE Africa focuses on inclusive governance</vt:lpstr>
      <vt:lpstr>Barriers to Participation</vt:lpstr>
      <vt:lpstr>How VYBE Africa Promotes Inclusive Governance</vt:lpstr>
      <vt:lpstr>Child Protection Definition</vt:lpstr>
      <vt:lpstr>Types of abuses</vt:lpstr>
      <vt:lpstr>Why child protection matters to VYBE Africa</vt:lpstr>
      <vt:lpstr>Child protection issues in West Pokot</vt:lpstr>
      <vt:lpstr>PowerPoint Presentation</vt:lpstr>
      <vt:lpstr>Break the Silence 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Moses Kibet Kibet</dc:creator>
  <cp:lastModifiedBy>Moses Kibet Kibet</cp:lastModifiedBy>
  <cp:revision>3</cp:revision>
  <dcterms:created xsi:type="dcterms:W3CDTF">2025-07-08T10:03:58Z</dcterms:created>
  <dcterms:modified xsi:type="dcterms:W3CDTF">2025-07-09T08:11:48Z</dcterms:modified>
</cp:coreProperties>
</file>